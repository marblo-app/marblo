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1F28"/>
                </a:solidFill>
                <a:latin typeface="맑은 고딕"/>
              </a:rPr>
              <a:t>결제경로</a:t>
            </a:r>
          </a:p>
          <a:p>
            <a:pPr algn="l"/>
            <a:r>
              <a:rPr sz="1500" b="0">
                <a:solidFill>
                  <a:srgbClr val="326CF6"/>
                </a:solidFill>
                <a:latin typeface="맑은 고딕"/>
              </a:rPr>
              <a:t>정기결제 (빌링) — Pro 구독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(1) 상호명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9202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주식회사 하이프마크 (HYPEMARC)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95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(2) 사업자번호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957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408-88-02189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7121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(3)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7121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https://marblo.app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4670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(4) Test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4670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test@hypemarc.com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22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6CF6"/>
                </a:solidFill>
                <a:latin typeface="맑은 고딕"/>
              </a:rPr>
              <a:t>(5) Test PW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8221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91F28"/>
                </a:solidFill>
                <a:latin typeface="맑은 고딕"/>
              </a:rPr>
              <a:t>MarbloReview2026!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684"/>
                </a:solidFill>
                <a:latin typeface="맑은 고딕"/>
              </a:rPr>
              <a:t>※ 심사 확인용 계정입니다. 마케팅 수신에는 동의하지 않았으며 필수 약관 3개(개인정보 수집·이용 / 국외 이전 / 만 14세 이상)에만 동의되어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② 하단정보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필수정보가 모두 포함된 하단정보를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상호명 / 사업자번호 / 대표자명 / 사업자주소</a:t>
            </a:r>
          </a:p>
        </p:txBody>
      </p:sp>
      <p:pic>
        <p:nvPicPr>
          <p:cNvPr id="5" name="Picture 4" descr="02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환불규정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환불규정을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1/3 — https://marblo.app/ko/legal/refund (청약철회 7일 · 강의 진도율별 기준)</a:t>
            </a:r>
          </a:p>
        </p:txBody>
      </p:sp>
      <p:pic>
        <p:nvPicPr>
          <p:cNvPr id="5" name="Picture 4" descr="03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환불규정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환불규정을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2/3 — 구독 환불 (청약철회 기산점 · ★미제공 기간 일할 환불)</a:t>
            </a:r>
          </a:p>
        </p:txBody>
      </p:sp>
      <p:pic>
        <p:nvPicPr>
          <p:cNvPr id="5" name="Picture 4" descr="03_refun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환불규정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환불규정을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3/3 — 무료 쿠폰 · 환불 절차 · 문의처</a:t>
            </a:r>
          </a:p>
        </p:txBody>
      </p:sp>
      <p:pic>
        <p:nvPicPr>
          <p:cNvPr id="5" name="Picture 4" descr="03_refun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④ 로그인 / 회원가입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회원가입 경로를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https://marblo.app/ko/auth/signup — 회원가입 화면</a:t>
            </a:r>
          </a:p>
        </p:txBody>
      </p:sp>
      <p:pic>
        <p:nvPicPr>
          <p:cNvPr id="5" name="Picture 4" descr="04_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④ 로그인 / 회원가입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로그인 경로를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https://marblo.app/ko/auth/login — 로그인 화면</a:t>
            </a:r>
          </a:p>
        </p:txBody>
      </p:sp>
      <p:pic>
        <p:nvPicPr>
          <p:cNvPr id="5" name="Picture 4" descr="04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1/4 — 메인 페이지 https://marblo.app/ko</a:t>
            </a:r>
          </a:p>
        </p:txBody>
      </p:sp>
      <p:pic>
        <p:nvPicPr>
          <p:cNvPr id="5" name="Picture 4" descr="05_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2/4 — 요금제 https://marblo.app/ko/pricing — ★월간 (서비스 제공기간 고지)</a:t>
            </a:r>
          </a:p>
        </p:txBody>
      </p:sp>
      <p:pic>
        <p:nvPicPr>
          <p:cNvPr id="5" name="Picture 4" descr="05_2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3/4 — 요금제 /pricing — ★연간 (토글 전환 시 제공기간 고지)</a:t>
            </a:r>
          </a:p>
        </p:txBody>
      </p:sp>
      <p:pic>
        <p:nvPicPr>
          <p:cNvPr id="5" name="Picture 4" descr="05_2_pricing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⑤ 상품선택 / 구매과정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상품 구매하는 일련의 과정을 캡처해요.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4/4 — 구독 주문서 https://marblo.app/ko/checkout</a:t>
            </a:r>
          </a:p>
        </p:txBody>
      </p:sp>
      <p:pic>
        <p:nvPicPr>
          <p:cNvPr id="5" name="Picture 4" descr="05_3_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182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684"/>
                </a:solidFill>
                <a:latin typeface="맑은 고딕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3776472" cy="384048"/>
          </a:xfrm>
          <a:prstGeom prst="rect">
            <a:avLst/>
          </a:prstGeom>
          <a:solidFill>
            <a:srgbClr val="326CF6"/>
          </a:solidFill>
          <a:ln>
            <a:noFill/>
          </a:ln>
        </p:spPr>
        <p:txBody>
          <a:bodyPr wrap="square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⑥ 카드 결제경로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1F28"/>
                </a:solidFill>
                <a:latin typeface="맑은 고딕"/>
              </a:rPr>
              <a:t>빌링결제의 경우 정기결제용 카드 입력창까지 캡처해야해요.</a:t>
            </a:r>
          </a:p>
          <a:p>
            <a:pPr algn="ctr"/>
            <a:r>
              <a:rPr sz="1100" b="0">
                <a:solidFill>
                  <a:srgbClr val="6B7684"/>
                </a:solidFill>
                <a:latin typeface="맑은 고딕"/>
              </a:rPr>
              <a:t>토스페이먼츠 정기결제(빌링) 카드 등록창 — ★정기결제본 필수 항목</a:t>
            </a:r>
          </a:p>
        </p:txBody>
      </p:sp>
      <p:pic>
        <p:nvPicPr>
          <p:cNvPr id="5" name="Picture 4" descr="06_1_payment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1481328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