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1F28"/>
                </a:solidFill>
                <a:latin typeface="맑은 고딕"/>
              </a:rPr>
              <a:t>결제경로</a:t>
            </a:r>
          </a:p>
          <a:p>
            <a:pPr algn="l"/>
            <a:r>
              <a:rPr sz="1500" b="0">
                <a:solidFill>
                  <a:srgbClr val="326CF6"/>
                </a:solidFill>
                <a:latin typeface="맑은 고딕"/>
              </a:rPr>
              <a:t>일반 (홈페이지) — 강의 · 일회성 결제  [보류: 결제 흐름 차단 상태]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9202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6CF6"/>
                </a:solidFill>
                <a:latin typeface="맑은 고딕"/>
              </a:rPr>
              <a:t>(1) 상호명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9202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1F28"/>
                </a:solidFill>
                <a:latin typeface="맑은 고딕"/>
              </a:rPr>
              <a:t>주식회사 하이프마크 (HYPEMARC)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957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6CF6"/>
                </a:solidFill>
                <a:latin typeface="맑은 고딕"/>
              </a:rPr>
              <a:t>(2) 사업자번호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39572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1F28"/>
                </a:solidFill>
                <a:latin typeface="맑은 고딕"/>
              </a:rPr>
              <a:t>408-88-02189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7121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6CF6"/>
                </a:solidFill>
                <a:latin typeface="맑은 고딕"/>
              </a:rPr>
              <a:t>(3)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871216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1F28"/>
                </a:solidFill>
                <a:latin typeface="맑은 고딕"/>
              </a:rPr>
              <a:t>https://marblo.app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34670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6CF6"/>
                </a:solidFill>
                <a:latin typeface="맑은 고딕"/>
              </a:rPr>
              <a:t>(4) Test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346704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1F28"/>
                </a:solidFill>
                <a:latin typeface="맑은 고딕"/>
              </a:rPr>
              <a:t>test@hypemarc.com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8221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6CF6"/>
                </a:solidFill>
                <a:latin typeface="맑은 고딕"/>
              </a:rPr>
              <a:t>(5) Test PW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82219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1F28"/>
                </a:solidFill>
                <a:latin typeface="맑은 고딕"/>
              </a:rPr>
              <a:t>MarbloReview2026!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70916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684"/>
                </a:solidFill>
                <a:latin typeface="맑은 고딕"/>
              </a:rPr>
              <a:t>※ 심사 확인용 계정입니다. 마케팅 수신에는 동의하지 않았으며 필수 약관 3개(개인정보 수집·이용 / 국외 이전 / 만 14세 이상)에만 동의되어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4472" cy="5212080"/>
          </a:xfrm>
          <a:prstGeom prst="rect">
            <a:avLst/>
          </a:prstGeom>
          <a:solidFill>
            <a:srgbClr val="FFF4E5"/>
          </a:solidFill>
          <a:ln w="19050">
            <a:solidFill>
              <a:srgbClr val="E88C00"/>
            </a:solidFill>
          </a:ln>
        </p:spPr>
        <p:txBody>
          <a:bodyPr wrap="square" anchor="t" lIns="502920" rIns="502920" tIns="365760">
            <a:spAutoFit/>
          </a:bodyPr>
          <a:lstStyle/>
          <a:p>
            <a:pPr algn="l"/>
            <a:r>
              <a:rPr sz="2200" b="1">
                <a:solidFill>
                  <a:srgbClr val="8A5200"/>
                </a:solidFill>
                <a:latin typeface="맑은 고딕"/>
              </a:rPr>
              <a:t>⚠ 이 문서는 제출용이 아닙니다 — 이번 카드사 심사 범위 밖입니다</a:t>
            </a:r>
          </a:p>
          <a:p>
            <a:pPr algn="l"/>
            <a:r>
              <a:rPr sz="1000" b="0">
                <a:solidFill>
                  <a:srgbClr val="8A5200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8A5200"/>
                </a:solidFill>
                <a:latin typeface="맑은 고딕"/>
              </a:rPr>
              <a:t>★이번 심사는 '구독(정기결제) 단독 접수'로 결정되었습니다 (사장님 결정).</a:t>
            </a:r>
          </a:p>
          <a:p>
            <a:pPr algn="l"/>
            <a:r>
              <a:rPr sz="500" b="0">
                <a:solidFill>
                  <a:srgbClr val="191F28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191F28"/>
                </a:solidFill>
                <a:latin typeface="맑은 고딕"/>
              </a:rPr>
              <a:t>    강의는 구매자가 없고 콘텐츠도 미준비라 판매를 열지 않습니다.</a:t>
            </a:r>
          </a:p>
          <a:p>
            <a:pPr algn="l"/>
            <a:r>
              <a:rPr sz="500" b="0">
                <a:solidFill>
                  <a:srgbClr val="191F28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191F28"/>
                </a:solidFill>
                <a:latin typeface="맑은 고딕"/>
              </a:rPr>
              <a:t>    → 제출 서류는 '마블로_결제경로_정기결제(구독).pptx' 한 개입니다.</a:t>
            </a:r>
          </a:p>
          <a:p>
            <a:pPr algn="l"/>
            <a:r>
              <a:rPr sz="500" b="0">
                <a:solidFill>
                  <a:srgbClr val="191F28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191F28"/>
                </a:solidFill>
                <a:latin typeface="맑은 고딕"/>
              </a:rPr>
              <a:t/>
            </a:r>
          </a:p>
          <a:p>
            <a:pPr algn="l"/>
            <a:r>
              <a:rPr sz="500" b="0">
                <a:solidFill>
                  <a:srgbClr val="191F28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8A5200"/>
                </a:solidFill>
                <a:latin typeface="맑은 고딕"/>
              </a:rPr>
              <a:t>★설령 포함하려 해도 지금은 캡처가 불가능합니다. 화면이 존재하지 않기 때문입니다.</a:t>
            </a:r>
          </a:p>
          <a:p>
            <a:pPr algn="l"/>
            <a:r>
              <a:rPr sz="500" b="0">
                <a:solidFill>
                  <a:srgbClr val="191F28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191F28"/>
                </a:solidFill>
                <a:latin typeface="맑은 고딕"/>
              </a:rPr>
              <a:t>근거: marblo-web/src/app/[locale]/checkout/page.tsx 의 가드</a:t>
            </a:r>
          </a:p>
          <a:p>
            <a:pPr algn="l"/>
            <a:r>
              <a:rPr sz="500" b="0">
                <a:solidFill>
                  <a:srgbClr val="191F28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191F28"/>
                </a:solidFill>
                <a:latin typeface="맑은 고딕"/>
              </a:rPr>
              <a:t>    「강의 실결제 차단(A안): 강의 콘텐츠 미준비 상태이므로 강의 체크아웃 진입 자체를 막고</a:t>
            </a:r>
          </a:p>
          <a:p>
            <a:pPr algn="l"/>
            <a:r>
              <a:rPr sz="500" b="0">
                <a:solidFill>
                  <a:srgbClr val="191F28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191F28"/>
                </a:solidFill>
                <a:latin typeface="맑은 고딕"/>
              </a:rPr>
              <a:t>      강의 상세로 돌려보낸다. 직접 URL 진입도 차단.」</a:t>
            </a:r>
          </a:p>
          <a:p>
            <a:pPr algn="l"/>
            <a:r>
              <a:rPr sz="500" b="0">
                <a:solidFill>
                  <a:srgbClr val="191F28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191F28"/>
                </a:solidFill>
                <a:latin typeface="맑은 고딕"/>
              </a:rPr>
              <a:t>이 리다이렉트는 type === "lecture" 이면 무조건 실행되며 로그인 여부보다 먼저 동작합니다.</a:t>
            </a:r>
          </a:p>
          <a:p>
            <a:pPr algn="l"/>
            <a:r>
              <a:rPr sz="500" b="0">
                <a:solidFill>
                  <a:srgbClr val="191F28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191F28"/>
                </a:solidFill>
                <a:latin typeface="맑은 고딕"/>
              </a:rPr>
              <a:t>따라서 '메인 → 상품 선택 → 결제 → 결제창' 중 결제·결제창 단계가 도달 불가입니다.</a:t>
            </a:r>
          </a:p>
          <a:p>
            <a:pPr algn="l"/>
            <a:r>
              <a:rPr sz="500" b="0">
                <a:solidFill>
                  <a:srgbClr val="191F28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8A5200"/>
                </a:solidFill>
                <a:latin typeface="맑은 고딕"/>
              </a:rPr>
              <a:t>★재개 조건: 나중에 강의 판매를 열 때 위 가드를 제거하면,</a:t>
            </a:r>
          </a:p>
          <a:p>
            <a:pPr algn="l"/>
            <a:r>
              <a:rPr sz="500" b="0">
                <a:solidFill>
                  <a:srgbClr val="191F28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191F28"/>
                </a:solidFill>
                <a:latin typeface="맑은 고딕"/>
              </a:rPr>
              <a:t>    이 문서의 뼈대 그대로 캡처만 채워 완성할 수 있습니다. 그때 재개합니다.</a:t>
            </a:r>
          </a:p>
          <a:p>
            <a:pPr algn="l"/>
            <a:r>
              <a:rPr sz="500" b="0">
                <a:solidFill>
                  <a:srgbClr val="191F28"/>
                </a:solidFill>
                <a:latin typeface="맑은 고딕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② 하단정보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필수정보가 모두 포함된 하단정보를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상호명 / 사업자번호 / 대표자명 / 사업자주소 / 상점 전화번호 / 통신판매업 신고번호</a:t>
            </a:r>
          </a:p>
        </p:txBody>
      </p:sp>
      <p:pic>
        <p:nvPicPr>
          <p:cNvPr id="5" name="Picture 4" descr="02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③ 환불규정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환불규정을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1/3 — https://marblo.app/ko/legal/refund (청약철회 7일 · 강의 진도율별 기준)</a:t>
            </a:r>
          </a:p>
        </p:txBody>
      </p:sp>
      <p:pic>
        <p:nvPicPr>
          <p:cNvPr id="5" name="Picture 4" descr="03_re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③ 환불규정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환불규정을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2/3 — 구독 환불 (청약철회 기산점 · ★미제공 기간 일할 환불)</a:t>
            </a:r>
          </a:p>
        </p:txBody>
      </p:sp>
      <p:pic>
        <p:nvPicPr>
          <p:cNvPr id="5" name="Picture 4" descr="03_refund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③ 환불규정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환불규정을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3/3 — 무료 쿠폰 · 환불 절차 · 문의처</a:t>
            </a:r>
          </a:p>
        </p:txBody>
      </p:sp>
      <p:pic>
        <p:nvPicPr>
          <p:cNvPr id="5" name="Picture 4" descr="03_refund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④ 로그인 / 회원가입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회원가입 경로를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https://marblo.app/ko/auth/signup — 회원가입 화면</a:t>
            </a:r>
          </a:p>
        </p:txBody>
      </p:sp>
      <p:pic>
        <p:nvPicPr>
          <p:cNvPr id="5" name="Picture 4" descr="04_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④ 로그인 / 회원가입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로그인 경로를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https://marblo.app/ko/auth/login — 로그인 화면</a:t>
            </a:r>
          </a:p>
        </p:txBody>
      </p:sp>
      <p:pic>
        <p:nvPicPr>
          <p:cNvPr id="5" name="Picture 4" descr="04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⑤ 상품선택 / 구매과정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상품 구매하는 일련의 과정을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1/4 — 메인 페이지 https://marblo.app/ko</a:t>
            </a:r>
          </a:p>
        </p:txBody>
      </p:sp>
      <p:pic>
        <p:nvPicPr>
          <p:cNvPr id="5" name="Picture 4" descr="05_1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⑤ 상품선택 / 구매과정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상품 구매하는 일련의 과정을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2/4 — 강의 목록 https://marblo.app/ko/lectures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34472" cy="5029200"/>
          </a:xfrm>
          <a:prstGeom prst="rect">
            <a:avLst/>
          </a:prstGeom>
          <a:solidFill>
            <a:srgbClr val="FFF4E5"/>
          </a:solidFill>
          <a:ln w="19050">
            <a:solidFill>
              <a:srgbClr val="E88C00"/>
            </a:solidFill>
          </a:ln>
        </p:spPr>
        <p:txBody>
          <a:bodyPr wrap="square" anchor="ctr" lIns="457200" rIns="457200">
            <a:spAutoFit/>
          </a:bodyPr>
          <a:lstStyle/>
          <a:p>
            <a:pPr algn="ctr"/>
            <a:r>
              <a:rPr sz="2000" b="1">
                <a:solidFill>
                  <a:srgbClr val="8A5200"/>
                </a:solidFill>
                <a:latin typeface="맑은 고딕"/>
              </a:rPr>
              <a:t>⚠ 화면 캡처가 필요합니다</a:t>
            </a:r>
          </a:p>
          <a:p>
            <a:pPr algn="ctr"/>
            <a:r>
              <a:rPr sz="1000" b="0">
                <a:solidFill>
                  <a:srgbClr val="8A5200"/>
                </a:solidFill>
                <a:latin typeface="맑은 고딕"/>
              </a:rPr>
              <a:t/>
            </a:r>
          </a:p>
          <a:p>
            <a:pPr algn="ctr"/>
            <a:r>
              <a:rPr sz="1300" b="0">
                <a:solidFill>
                  <a:srgbClr val="8A5200"/>
                </a:solidFill>
                <a:latin typeface="맑은 고딕"/>
              </a:rPr>
              <a:t>강의 목록(상품 목록). 판매가가 보이는 상태로 캡처.</a:t>
            </a:r>
          </a:p>
          <a:p>
            <a:pPr algn="ctr"/>
            <a:r>
              <a:rPr sz="800" b="0">
                <a:solidFill>
                  <a:srgbClr val="8A5200"/>
                </a:solidFill>
                <a:latin typeface="맑은 고딕"/>
              </a:rPr>
              <a:t/>
            </a:r>
          </a:p>
          <a:p>
            <a:pPr algn="ctr"/>
            <a:r>
              <a:rPr sz="1000" b="0">
                <a:solidFill>
                  <a:srgbClr val="6B7684"/>
                </a:solidFill>
                <a:latin typeface="맑은 고딕"/>
              </a:rPr>
              <a:t>채우는 법: 위 화면을 캡처해 captures/05_2_lecture_list.png 로 저장한 뒤 build_payment_path_ppt.py 를 다시 실행하면 이 자리에 삽입됩니다.</a:t>
            </a:r>
          </a:p>
          <a:p>
            <a:pPr algn="ctr"/>
            <a:r>
              <a:rPr sz="1000" b="1">
                <a:solidFill>
                  <a:srgbClr val="8A5200"/>
                </a:solidFill>
                <a:latin typeface="맑은 고딕"/>
              </a:rPr>
              <a:t>(임의 이미지·모크업으로 채우지 마세요 — 심사 제출 서류입니다)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⑤ 상품선택 / 구매과정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상품 구매하는 일련의 과정을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3/4 — 강의 상세 https://marblo.app/ko/lectures/marblo-v3-masterclass (판매가 · ★서비스 제공기간 표기 포함)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34472" cy="5029200"/>
          </a:xfrm>
          <a:prstGeom prst="rect">
            <a:avLst/>
          </a:prstGeom>
          <a:solidFill>
            <a:srgbClr val="FFF4E5"/>
          </a:solidFill>
          <a:ln w="19050">
            <a:solidFill>
              <a:srgbClr val="E88C00"/>
            </a:solidFill>
          </a:ln>
        </p:spPr>
        <p:txBody>
          <a:bodyPr wrap="square" anchor="ctr" lIns="457200" rIns="457200">
            <a:spAutoFit/>
          </a:bodyPr>
          <a:lstStyle/>
          <a:p>
            <a:pPr algn="ctr"/>
            <a:r>
              <a:rPr sz="2000" b="1">
                <a:solidFill>
                  <a:srgbClr val="8A5200"/>
                </a:solidFill>
                <a:latin typeface="맑은 고딕"/>
              </a:rPr>
              <a:t>⚠ 화면 캡처가 필요합니다</a:t>
            </a:r>
          </a:p>
          <a:p>
            <a:pPr algn="ctr"/>
            <a:r>
              <a:rPr sz="1000" b="0">
                <a:solidFill>
                  <a:srgbClr val="8A5200"/>
                </a:solidFill>
                <a:latin typeface="맑은 고딕"/>
              </a:rPr>
              <a:t/>
            </a:r>
          </a:p>
          <a:p>
            <a:pPr algn="ctr"/>
            <a:r>
              <a:rPr sz="1300" b="0">
                <a:solidFill>
                  <a:srgbClr val="8A5200"/>
                </a:solidFill>
                <a:latin typeface="맑은 고딕"/>
              </a:rPr>
              <a:t>강의 상세 페이지. ★수강기간(서비스 제공기간) 문구가 화면에 보이는 상태여야 함 — 티켓 RlvepuUqVn9L4X9Jbe49 머지 후 캡처할 것. 단 이번 심사는 구독 단독 접수라 이 슬라이드는 당장 필요하지 않음.</a:t>
            </a:r>
          </a:p>
          <a:p>
            <a:pPr algn="ctr"/>
            <a:r>
              <a:rPr sz="800" b="0">
                <a:solidFill>
                  <a:srgbClr val="8A5200"/>
                </a:solidFill>
                <a:latin typeface="맑은 고딕"/>
              </a:rPr>
              <a:t/>
            </a:r>
          </a:p>
          <a:p>
            <a:pPr algn="ctr"/>
            <a:r>
              <a:rPr sz="1000" b="0">
                <a:solidFill>
                  <a:srgbClr val="6B7684"/>
                </a:solidFill>
                <a:latin typeface="맑은 고딕"/>
              </a:rPr>
              <a:t>채우는 법: 위 화면을 캡처해 captures/05_3_lecture_detail.png 로 저장한 뒤 build_payment_path_ppt.py 를 다시 실행하면 이 자리에 삽입됩니다.</a:t>
            </a:r>
          </a:p>
          <a:p>
            <a:pPr algn="ctr"/>
            <a:r>
              <a:rPr sz="1000" b="1">
                <a:solidFill>
                  <a:srgbClr val="8A5200"/>
                </a:solidFill>
                <a:latin typeface="맑은 고딕"/>
              </a:rPr>
              <a:t>(임의 이미지·모크업으로 채우지 마세요 — 심사 제출 서류입니다)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⑤ 상품선택 / 구매과정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상품 구매하는 일련의 과정을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4/4 — 주문서 / 결제하기 https://marblo.app/ko/checkout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34472" cy="5029200"/>
          </a:xfrm>
          <a:prstGeom prst="rect">
            <a:avLst/>
          </a:prstGeom>
          <a:solidFill>
            <a:srgbClr val="FFF4E5"/>
          </a:solidFill>
          <a:ln w="19050">
            <a:solidFill>
              <a:srgbClr val="E88C00"/>
            </a:solidFill>
          </a:ln>
        </p:spPr>
        <p:txBody>
          <a:bodyPr wrap="square" anchor="ctr" lIns="457200" rIns="457200">
            <a:spAutoFit/>
          </a:bodyPr>
          <a:lstStyle/>
          <a:p>
            <a:pPr algn="ctr"/>
            <a:r>
              <a:rPr sz="2000" b="1">
                <a:solidFill>
                  <a:srgbClr val="8A5200"/>
                </a:solidFill>
                <a:latin typeface="맑은 고딕"/>
              </a:rPr>
              <a:t>⚠ 화면 캡처가 필요합니다</a:t>
            </a:r>
          </a:p>
          <a:p>
            <a:pPr algn="ctr"/>
            <a:r>
              <a:rPr sz="1000" b="0">
                <a:solidFill>
                  <a:srgbClr val="8A5200"/>
                </a:solidFill>
                <a:latin typeface="맑은 고딕"/>
              </a:rPr>
              <a:t/>
            </a:r>
          </a:p>
          <a:p>
            <a:pPr algn="ctr"/>
            <a:r>
              <a:rPr sz="1300" b="0">
                <a:solidFill>
                  <a:srgbClr val="8A5200"/>
                </a:solidFill>
                <a:latin typeface="맑은 고딕"/>
              </a:rPr>
              <a:t>주문 요약 + 결제수단(신용카드) + 구매조건 동의 + [결제하기] 버튼이 함께 보이게 캡처.</a:t>
            </a:r>
          </a:p>
          <a:p>
            <a:pPr algn="ctr"/>
            <a:r>
              <a:rPr sz="800" b="0">
                <a:solidFill>
                  <a:srgbClr val="8A5200"/>
                </a:solidFill>
                <a:latin typeface="맑은 고딕"/>
              </a:rPr>
              <a:t/>
            </a:r>
          </a:p>
          <a:p>
            <a:pPr algn="ctr"/>
            <a:r>
              <a:rPr sz="1000" b="0">
                <a:solidFill>
                  <a:srgbClr val="6B7684"/>
                </a:solidFill>
                <a:latin typeface="맑은 고딕"/>
              </a:rPr>
              <a:t>채우는 법: 위 화면을 캡처해 captures/05_4_checkout.png 로 저장한 뒤 build_payment_path_ppt.py 를 다시 실행하면 이 자리에 삽입됩니다.</a:t>
            </a:r>
          </a:p>
          <a:p>
            <a:pPr algn="ctr"/>
            <a:r>
              <a:rPr sz="1000" b="1">
                <a:solidFill>
                  <a:srgbClr val="8A5200"/>
                </a:solidFill>
                <a:latin typeface="맑은 고딕"/>
              </a:rPr>
              <a:t>(임의 이미지·모크업으로 채우지 마세요 — 심사 제출 서류입니다)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⑥ 카드 결제경로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카드 결제 과정을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토스페이먼츠 결제창 — 신용카드 선택 + 카드사 목록</a:t>
            </a:r>
          </a:p>
        </p:txBody>
      </p:sp>
      <p:pic>
        <p:nvPicPr>
          <p:cNvPr id="5" name="Picture 4" descr="06_1_payment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